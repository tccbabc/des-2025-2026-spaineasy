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Comic Sans MS" panose="030F0702030302020204" pitchFamily="66" charset="0"/>
      <p:regular r:id="rId15"/>
      <p:bold r:id="rId16"/>
      <p:italic r:id="rId17"/>
      <p:boldItalic r:id="rId18"/>
    </p:embeddedFont>
    <p:embeddedFont>
      <p:font typeface="Helvetica Neue" panose="02010600030101010101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5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c637729d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9c637729d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c637729d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9c637729d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7647dfd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57647dfd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c637729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9c637729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7647dfde_1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a57647dfde_1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c637729d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9c637729d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57647dfde_8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a57647dfde_8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c637729d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9c637729d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57647dfd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a57647dfd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57647dfde_8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3a57647dfde_8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444332" y="3060450"/>
            <a:ext cx="6613500" cy="10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s-419" sz="36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Grupo:  </a:t>
            </a:r>
            <a:r>
              <a:rPr lang="es-419" sz="3600" dirty="0" err="1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SpainEasy</a:t>
            </a:r>
            <a:endParaRPr sz="3600" dirty="0"/>
          </a:p>
        </p:txBody>
      </p:sp>
      <p:pic>
        <p:nvPicPr>
          <p:cNvPr id="55" name="Google Shape;55;p13" title="UGR-MARCA-02-col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25" y="301873"/>
            <a:ext cx="6350351" cy="17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 title="Gemini_Generated_Image_y60emxy60emxy60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299" y="2284100"/>
            <a:ext cx="2973349" cy="23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62157" y="1475700"/>
            <a:ext cx="7540500" cy="29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Char char="●"/>
            </a:pPr>
            <a:r>
              <a:rPr lang="es-419" sz="25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Introducción y Personas y Escenarios</a:t>
            </a:r>
            <a:endParaRPr sz="25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Char char="●"/>
            </a:pPr>
            <a:r>
              <a:rPr lang="es-419" sz="25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Propósito y Alcance</a:t>
            </a:r>
            <a:endParaRPr sz="25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Char char="●"/>
            </a:pPr>
            <a:r>
              <a:rPr lang="es-419" sz="25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Problema y Solución Propuesta</a:t>
            </a:r>
            <a:endParaRPr sz="25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Char char="●"/>
            </a:pPr>
            <a:r>
              <a:rPr lang="es-419" sz="25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Usuarios y Stakeholders</a:t>
            </a:r>
            <a:endParaRPr sz="25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Char char="●"/>
            </a:pPr>
            <a:r>
              <a:rPr lang="es-419" sz="25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Casos de Uso</a:t>
            </a:r>
            <a:endParaRPr sz="25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Char char="●"/>
            </a:pPr>
            <a:r>
              <a:rPr lang="es-419" sz="25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Conclusión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38700" y="488750"/>
            <a:ext cx="39291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Planificación </a:t>
            </a:r>
            <a:endParaRPr sz="3500" b="1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5" name="Google Shape;65;p14" title="Gemini_Generated_Image_y60emxy60emxy60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649" y="2830900"/>
            <a:ext cx="2973349" cy="23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719000" y="353950"/>
            <a:ext cx="4347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Personas y Escenarios</a:t>
            </a:r>
            <a:endParaRPr sz="3000" b="1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2" name="Google Shape;72;p15" title="Captura de pantalla 2025-11-19 a la(s) 2.34.38 p. m..png"/>
          <p:cNvPicPr preferRelativeResize="0"/>
          <p:nvPr/>
        </p:nvPicPr>
        <p:blipFill rotWithShape="1">
          <a:blip r:embed="rId3">
            <a:alphaModFix/>
          </a:blip>
          <a:srcRect r="1224"/>
          <a:stretch/>
        </p:blipFill>
        <p:spPr>
          <a:xfrm>
            <a:off x="1189850" y="1530477"/>
            <a:ext cx="2670026" cy="20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Captura de pantalla 2025-11-19 a la(s) 2.43.17 p. 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4200" y="1088950"/>
            <a:ext cx="4178295" cy="3749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卡通人物&#10;&#10;AI 生成的内容可能不正确。">
            <a:extLst>
              <a:ext uri="{FF2B5EF4-FFF2-40B4-BE49-F238E27FC236}">
                <a16:creationId xmlns:a16="http://schemas.microsoft.com/office/drawing/2014/main" id="{13165256-7ED7-705B-A1CB-315CD720D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2696" y="1521425"/>
            <a:ext cx="560675" cy="6965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723225" y="268700"/>
            <a:ext cx="324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Propósito</a:t>
            </a:r>
            <a:r>
              <a:rPr lang="es-419" sz="3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3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889144" y="1050800"/>
            <a:ext cx="3834000" cy="13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Desarrollo de una plataforma que sirva como apoyo a estudiantes extranjeros en la comunidad de Andalucía.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23233" y="2671820"/>
            <a:ext cx="348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Alcance</a:t>
            </a:r>
            <a:r>
              <a:rPr lang="es-419" sz="3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3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74400" y="3545550"/>
            <a:ext cx="4232100" cy="12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Gestión del Cronograma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Participación de la Comunidad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Geolocalización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6500" y="915200"/>
            <a:ext cx="3603302" cy="2630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733800" y="473175"/>
            <a:ext cx="3603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Acrónimos.</a:t>
            </a:r>
            <a:endParaRPr sz="3000" b="1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822282" y="1402325"/>
            <a:ext cx="3878700" cy="1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SpainEasy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Estudiantes Extranjeros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Ayuntamiento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Comunidad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t="27970" b="13378"/>
          <a:stretch/>
        </p:blipFill>
        <p:spPr>
          <a:xfrm>
            <a:off x="5106395" y="473175"/>
            <a:ext cx="2316600" cy="16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6995" y="2486200"/>
            <a:ext cx="2316600" cy="23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5295" y="2416900"/>
            <a:ext cx="2316600" cy="23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744725" y="440800"/>
            <a:ext cx="637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Problemas:</a:t>
            </a:r>
            <a:endParaRPr sz="3000" b="1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822171" y="1213251"/>
            <a:ext cx="7416900" cy="3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Los estudiantes internacionales que llegan a España enfrentan múltiples dificultades: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Información dispersa y poco clara sobre trámites (NIE, empadronamiento, cuentas bancarias, alojamiento).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Barreras de idioma y exceso de burocracia.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Riesgo de cometer errores administrativos que afectan su estatus legal, estudios o empleo.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Estrés y pérdida de tiempo buscando en múltiples fuentes no oficiales.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727950" y="425700"/>
            <a:ext cx="637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Solución propuesta: </a:t>
            </a:r>
            <a:endParaRPr sz="3000" b="1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774282" y="1159375"/>
            <a:ext cx="7820400" cy="3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Plataforma centralizada con </a:t>
            </a:r>
            <a:r>
              <a:rPr lang="es-419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guías paso a paso</a:t>
            </a: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para trámites legales y administrativos.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419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Soporte multilingüe</a:t>
            </a: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para superar la barrera del idioma.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419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Búsqueda de alojamiento verificado</a:t>
            </a: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cerca de universidades.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419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Geolocalización</a:t>
            </a: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para ubicar oficinas de extranjería y ayuntamientos cercanos.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419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Comunidad colaborativa</a:t>
            </a: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donde otros estudiantes comparten experiencias y consejos.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419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Alertas y recordatorios</a:t>
            </a:r>
            <a:r>
              <a:rPr lang="es-419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para no olvidar citas o plazos importantes.</a:t>
            </a:r>
            <a:endParaRPr sz="2000"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39850" y="586475"/>
            <a:ext cx="3389700" cy="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Stakeholders.</a:t>
            </a:r>
            <a:endParaRPr sz="3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4" name="Google Shape;114;p20" title="stakehold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700" y="1005300"/>
            <a:ext cx="3476500" cy="3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813330" y="1897000"/>
            <a:ext cx="37143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Usuario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Cliente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Equipo de desarrollo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Oficina de extranjería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Gestor y abogado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727948" y="516775"/>
            <a:ext cx="2972100" cy="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Usuarios.</a:t>
            </a:r>
            <a:endParaRPr sz="3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4966525" y="2018900"/>
            <a:ext cx="4017900" cy="23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Estudiante internacional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Recien llegado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Usuarios experimentados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Gestor y abogado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●"/>
            </a:pPr>
            <a:r>
              <a:rPr lang="es-419" sz="2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Oficina internacional</a:t>
            </a:r>
            <a:endParaRPr sz="20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413" y="1647825"/>
            <a:ext cx="2902150" cy="29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793750" y="379000"/>
            <a:ext cx="637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Modelo de Casos de Uso.</a:t>
            </a:r>
            <a:endParaRPr sz="3000" b="1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0" name="Google Shape;130;p22" title="caso de us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750" y="1161525"/>
            <a:ext cx="3485700" cy="36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caso de uso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100" y="1202400"/>
            <a:ext cx="3729326" cy="367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3187050" y="588025"/>
            <a:ext cx="27699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Conclusión</a:t>
            </a:r>
            <a:endParaRPr sz="3500" b="1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084025" y="1562256"/>
            <a:ext cx="7196700" cy="28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La aplicación se desarrolla como un producto independiente. Su objetivo no es reemplazar a las plataformas oficiales, sino conectar y centralizar la información y las acciones necesarias para completar los distintos trámites de extranjería que realizan los estudiantes internacionales en España.</a:t>
            </a:r>
            <a:endParaRPr sz="25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2012038" y="3861600"/>
            <a:ext cx="50370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 b="1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POR SU ATENCION!</a:t>
            </a:r>
            <a:endParaRPr sz="3500" b="1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5" name="Google Shape;145;p24" title="gracia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154" y="430425"/>
            <a:ext cx="3892772" cy="299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273</Words>
  <Application>Microsoft Office PowerPoint</Application>
  <PresentationFormat>全屏显示(16:9)</PresentationFormat>
  <Paragraphs>49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Comic Sans MS</vt:lpstr>
      <vt:lpstr>Helvetica Neue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 CHEN</cp:lastModifiedBy>
  <cp:revision>2</cp:revision>
  <dcterms:modified xsi:type="dcterms:W3CDTF">2025-11-20T19:00:18Z</dcterms:modified>
</cp:coreProperties>
</file>