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EB Garamond Medium" panose="00000600000000000000" pitchFamily="2" charset="0"/>
      <p:regular r:id="rId20"/>
      <p:bold r:id="rId21"/>
      <p:italic r:id="rId22"/>
      <p:boldItalic r:id="rId23"/>
    </p:embeddedFont>
    <p:embeddedFont>
      <p:font typeface="Helvetica Neue" panose="02010600030101010101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edium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58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f6d69223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f6d69223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6d6922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6d6922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6d69223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f6d69223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f6d6922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f6d6922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6d69223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6d69223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f6d69223a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f6d69223a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6d69223a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6d69223a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6d69223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6d69223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6d69223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f6d69223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6d69223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6d69223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f6d69223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f6d69223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f6d69223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f6d69223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f6d69223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f6d69223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6d69223a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6d69223a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f6d69223a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f6d69223a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f6d69223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f6d69223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UGR-MARCA-02-colo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275" y="714498"/>
            <a:ext cx="6350351" cy="17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420625" y="2571750"/>
            <a:ext cx="66135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rgbClr val="2240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Grupo: 2.3 | SpainEasy</a:t>
            </a:r>
            <a:endParaRPr sz="3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45275" y="154900"/>
            <a:ext cx="70962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 DE PRESENTACIÓN</a:t>
            </a:r>
            <a:endParaRPr sz="3000"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5275" y="1012061"/>
            <a:ext cx="42387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Introducción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Análisis de arquitectura de la información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Diagrama de conceptos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Diagrama HTA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Sketches en papel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Sketches en Figma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Wireflow 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 Medium"/>
              <a:buAutoNum type="arabicPeriod"/>
            </a:pPr>
            <a:r>
              <a:rPr lang="es-419" sz="2000">
                <a:latin typeface="Roboto Medium"/>
                <a:ea typeface="Roboto Medium"/>
                <a:cs typeface="Roboto Medium"/>
                <a:sym typeface="Roboto Medium"/>
              </a:rPr>
              <a:t>Conclusión y próximos pasos </a:t>
            </a:r>
            <a:endParaRPr sz="20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7" name="Google Shape;67;p14" title="spain.png"/>
          <p:cNvPicPr preferRelativeResize="0"/>
          <p:nvPr/>
        </p:nvPicPr>
        <p:blipFill rotWithShape="1">
          <a:blip r:embed="rId4">
            <a:alphaModFix/>
          </a:blip>
          <a:srcRect l="14941" t="20410" r="17049" b="20751"/>
          <a:stretch/>
        </p:blipFill>
        <p:spPr>
          <a:xfrm>
            <a:off x="6306850" y="1459800"/>
            <a:ext cx="2015600" cy="17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5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845275" y="178600"/>
            <a:ext cx="391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INTRODUCCIÓN 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45275" y="1031100"/>
            <a:ext cx="4133400" cy="3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El proyecto SpainEasy se organiza en cuatro módulos principales: 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Medium"/>
              <a:buChar char="●"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Configuración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Medium"/>
              <a:buChar char="●"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Obtención de Ruta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Medium"/>
              <a:buChar char="●"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Ayuda de la Comunidad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 Medium"/>
              <a:buChar char="●"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Servicios Premium.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Para ello contamos con los bocetos en papel, el diagrama de conceptos, el HTA y el wireflow correspondientes a estos dos primeros módulos.</a:t>
            </a:r>
            <a:endParaRPr sz="16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300" y="1019925"/>
            <a:ext cx="3525025" cy="3525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8" name="Google Shape;78;p15"/>
          <p:cNvSpPr txBox="1"/>
          <p:nvPr/>
        </p:nvSpPr>
        <p:spPr>
          <a:xfrm>
            <a:off x="6850468" y="1378497"/>
            <a:ext cx="1751700" cy="10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rgbClr val="000000"/>
                </a:solidFill>
              </a:rPr>
              <a:t>Un estudiante extranjero,</a:t>
            </a:r>
            <a:endParaRPr sz="7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700">
                <a:solidFill>
                  <a:srgbClr val="000000"/>
                </a:solidFill>
              </a:rPr>
              <a:t>ingresa su información inicial y, a partir de ella, la aplicación genera automáticamente una </a:t>
            </a:r>
            <a:r>
              <a:rPr lang="es-419" sz="700" b="1">
                <a:solidFill>
                  <a:srgbClr val="000000"/>
                </a:solidFill>
              </a:rPr>
              <a:t>ruta de acciones</a:t>
            </a:r>
            <a:r>
              <a:rPr lang="es-419" sz="700">
                <a:solidFill>
                  <a:srgbClr val="000000"/>
                </a:solidFill>
              </a:rPr>
              <a:t> que debe seguir para completar sus trámites y procesos en España.</a:t>
            </a:r>
            <a:endParaRPr sz="7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6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845275" y="178600"/>
            <a:ext cx="8298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INFORMACIÓN DE ARQUITECTURA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845275" y="1031100"/>
            <a:ext cx="52779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Medium"/>
              <a:buChar char="●"/>
            </a:pPr>
            <a:r>
              <a:rPr lang="es-419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Por tareas con soporte en objetos</a:t>
            </a:r>
            <a:endParaRPr sz="20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Medium"/>
              <a:buChar char="●"/>
            </a:pPr>
            <a:r>
              <a:rPr lang="es-419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La estructura es </a:t>
            </a:r>
            <a:r>
              <a:rPr lang="en-US" altLang="zh-CN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lineal</a:t>
            </a:r>
            <a:r>
              <a:rPr lang="es-419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y por sección</a:t>
            </a:r>
            <a:endParaRPr sz="20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Medium"/>
              <a:buChar char="●"/>
            </a:pPr>
            <a:r>
              <a:rPr lang="es-419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Navegación global: una barra de pestañas </a:t>
            </a:r>
            <a:endParaRPr sz="20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Medium"/>
              <a:buChar char="●"/>
            </a:pPr>
            <a:r>
              <a:rPr lang="es-419" sz="20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Navegación local: Lineal, Basada en lista, Detalle-volver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Medium"/>
              <a:buChar char="●"/>
            </a:pPr>
            <a:r>
              <a:rPr lang="es-ES" sz="2000" dirty="0">
                <a:latin typeface="Roboto Medium"/>
                <a:ea typeface="Roboto Medium"/>
                <a:cs typeface="Roboto Medium"/>
                <a:sym typeface="Roboto Medium"/>
              </a:rPr>
              <a:t>B</a:t>
            </a:r>
            <a:r>
              <a:rPr lang="es-ES" sz="2000" noProof="0" dirty="0" err="1">
                <a:latin typeface="Roboto Medium"/>
                <a:ea typeface="Roboto Medium"/>
                <a:cs typeface="Roboto Medium"/>
                <a:sym typeface="Roboto Medium"/>
              </a:rPr>
              <a:t>úsqueda</a:t>
            </a:r>
            <a:r>
              <a:rPr lang="en-US" altLang="zh-CN" sz="2000" dirty="0">
                <a:latin typeface="Roboto Medium"/>
                <a:ea typeface="Roboto Medium"/>
                <a:cs typeface="Roboto Medium"/>
                <a:sym typeface="Roboto Medium"/>
              </a:rPr>
              <a:t> de </a:t>
            </a:r>
            <a:r>
              <a:rPr lang="en-US" altLang="zh-CN" sz="2000" dirty="0" err="1">
                <a:latin typeface="Roboto Medium"/>
                <a:ea typeface="Roboto Medium"/>
                <a:cs typeface="Roboto Medium"/>
                <a:sym typeface="Roboto Medium"/>
              </a:rPr>
              <a:t>existencia</a:t>
            </a:r>
            <a:endParaRPr sz="20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7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 DE CONCEPTO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7" title="diagrama-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225" y="1578000"/>
            <a:ext cx="55435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892975" y="1031100"/>
            <a:ext cx="1903500" cy="5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Diagrama ER:</a:t>
            </a:r>
            <a:endParaRPr sz="20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8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 DE CONCEPTO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892975" y="1031100"/>
            <a:ext cx="1251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Usuario:</a:t>
            </a:r>
            <a:endParaRPr sz="20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1C7CEE36-359C-D141-2B5C-BB8836FD5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385" y="1179846"/>
            <a:ext cx="4165853" cy="2925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19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 DE CONCEPTO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892975" y="1031100"/>
            <a:ext cx="1251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Perfil:</a:t>
            </a:r>
            <a:endParaRPr sz="20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07" name="Google Shape;107;p18" title="usuar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600" y="1563000"/>
            <a:ext cx="5438775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20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 DE CONCEPTO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892975" y="1031100"/>
            <a:ext cx="17979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Dato Visado:</a:t>
            </a:r>
            <a:endParaRPr sz="20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7" name="Google Shape;117;p19" title="perf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7666" y="1563000"/>
            <a:ext cx="5369431" cy="26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21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DIAGRAMA DE CONCEPTO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863757" y="1031100"/>
            <a:ext cx="35124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5959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Ruta: Paso 1 Paso 2 Paso 3</a:t>
            </a:r>
            <a:endParaRPr sz="2000">
              <a:solidFill>
                <a:srgbClr val="5959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7" name="Google Shape;137;p21" title="ru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757" y="1796150"/>
            <a:ext cx="3975682" cy="18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rut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4009" y="1796150"/>
            <a:ext cx="3836358" cy="18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22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DIAGRAMA HTA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1249" y="1007400"/>
            <a:ext cx="1961497" cy="66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975" y="2094552"/>
            <a:ext cx="8102681" cy="6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23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DIAGRAMA HTA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2100" y="1007400"/>
            <a:ext cx="2499801" cy="8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975" y="2393400"/>
            <a:ext cx="8062450" cy="6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9518" y="3474650"/>
            <a:ext cx="7049356" cy="6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24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DIAGRAMA HTA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501" y="1007400"/>
            <a:ext cx="2418093" cy="8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975" y="1987759"/>
            <a:ext cx="8251013" cy="68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6707" y="2822462"/>
            <a:ext cx="1687293" cy="68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2629" y="3657164"/>
            <a:ext cx="4991364" cy="898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Google Shape;178;p25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BOCETOS EN PAPEL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25" title="sk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281550" y="-378649"/>
            <a:ext cx="3526525" cy="634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26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BOCETOS EN FIGMA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26" title="Captura de pantalla 2025-12-10 a la(s) 9.55.28 p. m..png"/>
          <p:cNvPicPr preferRelativeResize="0"/>
          <p:nvPr/>
        </p:nvPicPr>
        <p:blipFill rotWithShape="1">
          <a:blip r:embed="rId4">
            <a:alphaModFix/>
          </a:blip>
          <a:srcRect l="10307" t="4934" r="8654" b="4526"/>
          <a:stretch/>
        </p:blipFill>
        <p:spPr>
          <a:xfrm>
            <a:off x="887608" y="1031100"/>
            <a:ext cx="3973419" cy="352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27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WIREFLOW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p27" title="wire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967" y="1031100"/>
            <a:ext cx="5683145" cy="352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28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CONCLUSIÓN Y PRÓXIMOS PASOS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28" title="Captura de pantalla 2025-12-11 a la(s) 12.13.46 a. 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025" y="1044625"/>
            <a:ext cx="6742975" cy="228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ctrTitle"/>
          </p:nvPr>
        </p:nvSpPr>
        <p:spPr>
          <a:xfrm>
            <a:off x="6018467" y="2812150"/>
            <a:ext cx="2901900" cy="1743900"/>
          </a:xfrm>
          <a:prstGeom prst="rect">
            <a:avLst/>
          </a:prstGeom>
          <a:ln>
            <a:noFill/>
          </a:ln>
          <a:effectLst>
            <a:outerShdw blurRad="57150" dist="19050" algn="bl" rotWithShape="0">
              <a:srgbClr val="FFFFFF">
                <a:alpha val="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600">
                <a:solidFill>
                  <a:srgbClr val="CFDEF8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UGR</a:t>
            </a:r>
            <a:endParaRPr sz="9600">
              <a:solidFill>
                <a:srgbClr val="CFDE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-7200" y="673"/>
            <a:ext cx="267000" cy="5155800"/>
          </a:xfrm>
          <a:prstGeom prst="rect">
            <a:avLst/>
          </a:prstGeom>
          <a:gradFill>
            <a:gsLst>
              <a:gs pos="0">
                <a:srgbClr val="E3F2FA"/>
              </a:gs>
              <a:gs pos="0">
                <a:srgbClr val="F0F5FD"/>
              </a:gs>
              <a:gs pos="58999">
                <a:srgbClr val="A4C2F4"/>
              </a:gs>
              <a:gs pos="100000">
                <a:srgbClr val="6098E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29" title="Captura de pantalla 2025-12-10 a la(s) 10.59.04 p. m..png"/>
          <p:cNvPicPr preferRelativeResize="0"/>
          <p:nvPr/>
        </p:nvPicPr>
        <p:blipFill rotWithShape="1">
          <a:blip r:embed="rId3">
            <a:alphaModFix/>
          </a:blip>
          <a:srcRect t="31162" r="39584" b="8305"/>
          <a:stretch/>
        </p:blipFill>
        <p:spPr>
          <a:xfrm>
            <a:off x="282753" y="4555925"/>
            <a:ext cx="5524049" cy="5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Captura de pantalla 2025-12-11 a la(s) 12.15.15 a. 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7617" y="1031100"/>
            <a:ext cx="4513094" cy="352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845275" y="154900"/>
            <a:ext cx="6560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GRACIAS POR SU ATENCI</a:t>
            </a:r>
            <a:r>
              <a:rPr lang="es-419"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Ó</a:t>
            </a:r>
            <a:r>
              <a:rPr lang="es-419" sz="3000" b="1">
                <a:latin typeface="Roboto"/>
                <a:ea typeface="Roboto"/>
                <a:cs typeface="Roboto"/>
                <a:sym typeface="Roboto"/>
              </a:rPr>
              <a:t>N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221</Words>
  <Application>Microsoft Office PowerPoint</Application>
  <PresentationFormat>全屏显示(16:9)</PresentationFormat>
  <Paragraphs>60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Helvetica Neue</vt:lpstr>
      <vt:lpstr>Arial</vt:lpstr>
      <vt:lpstr>Roboto</vt:lpstr>
      <vt:lpstr>EB Garamond Medium</vt:lpstr>
      <vt:lpstr>Roboto Medium</vt:lpstr>
      <vt:lpstr>Simple Light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  <vt:lpstr>UGR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 CHEN</cp:lastModifiedBy>
  <cp:revision>7</cp:revision>
  <dcterms:modified xsi:type="dcterms:W3CDTF">2025-12-11T11:57:28Z</dcterms:modified>
</cp:coreProperties>
</file>