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9144000" cy="5143500" type="screen16x9"/>
  <p:notesSz cx="6858000" cy="9144000"/>
  <p:embeddedFontLst>
    <p:embeddedFont>
      <p:font typeface="Helvetica Neue" panose="02010600030101010101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c637729d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9c637729d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c637729d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39c637729d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c637729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39c637729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F13ECB6-FDC0-E202-BBDA-6F6AB1BD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16AE1706-84A4-2203-6575-5647E5AE5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38BF45D1-5426-8E1A-A111-C1C08B664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522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c637729d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9c637729d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637729d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9c637729d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903EF1D-4B8F-A7F3-0667-1E15ADE5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637729d2_0_34:notes">
            <a:extLst>
              <a:ext uri="{FF2B5EF4-FFF2-40B4-BE49-F238E27FC236}">
                <a16:creationId xmlns:a16="http://schemas.microsoft.com/office/drawing/2014/main" id="{29AC53C6-8EC2-0EFF-14C0-0A87803CD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9c637729d2_0_34:notes">
            <a:extLst>
              <a:ext uri="{FF2B5EF4-FFF2-40B4-BE49-F238E27FC236}">
                <a16:creationId xmlns:a16="http://schemas.microsoft.com/office/drawing/2014/main" id="{FF52048B-B19D-3DC1-A7C2-ECD81AB76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6772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085E59E-0501-723E-5F15-53F63472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637729d2_0_34:notes">
            <a:extLst>
              <a:ext uri="{FF2B5EF4-FFF2-40B4-BE49-F238E27FC236}">
                <a16:creationId xmlns:a16="http://schemas.microsoft.com/office/drawing/2014/main" id="{1444D76E-71EC-6780-36A6-4DAFFF0EC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9c637729d2_0_34:notes">
            <a:extLst>
              <a:ext uri="{FF2B5EF4-FFF2-40B4-BE49-F238E27FC236}">
                <a16:creationId xmlns:a16="http://schemas.microsoft.com/office/drawing/2014/main" id="{0BC420F3-94DE-0DB9-AB86-5341F7C3D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71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463193" y="3003688"/>
            <a:ext cx="6613500" cy="7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s-419" sz="32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Grupo: 2.3 | </a:t>
            </a:r>
            <a:r>
              <a:rPr lang="es-419" sz="3200" dirty="0" err="1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SpainEasy</a:t>
            </a:r>
            <a:endParaRPr sz="3200" dirty="0"/>
          </a:p>
        </p:txBody>
      </p:sp>
      <p:pic>
        <p:nvPicPr>
          <p:cNvPr id="55" name="Google Shape;55;p13" title="UGR-MARCA-02-col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851" y="573270"/>
            <a:ext cx="6350351" cy="17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897956" y="504017"/>
            <a:ext cx="3061986" cy="99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419" sz="3200" b="1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</a:t>
            </a:r>
            <a:endParaRPr sz="3200" b="1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811136" y="1122764"/>
            <a:ext cx="4041083" cy="3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 sz="24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Descripción Inicial</a:t>
            </a:r>
            <a:endParaRPr sz="24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419" sz="24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Solución Propuesta</a:t>
            </a:r>
            <a:endParaRPr sz="24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419" sz="24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Mapa Mental</a:t>
            </a:r>
            <a:endParaRPr sz="24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419" sz="24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Estudio de Mercado</a:t>
            </a:r>
            <a:endParaRPr sz="24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419" sz="24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Conclusiones</a:t>
            </a:r>
            <a:endParaRPr sz="24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D34A0DE0-65C3-5665-33DB-615EC2EE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26" y="1371600"/>
            <a:ext cx="4041677" cy="22734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2908270" y="415528"/>
            <a:ext cx="3536775" cy="88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419" b="1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Descripción Inicial</a:t>
            </a:r>
            <a:endParaRPr b="1"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58570" y="1003209"/>
            <a:ext cx="4065946" cy="362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419" sz="20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Desde 2022, España recibe más de 600.000 extranjeros al año, pero los trámites exigidos por la Ley de Extranjería son complejos, cambiantes y carecen de una plataforma unificada que oriente claramente al residente.</a:t>
            </a:r>
            <a:endParaRPr dirty="0"/>
          </a:p>
        </p:txBody>
      </p:sp>
      <p:sp>
        <p:nvSpPr>
          <p:cNvPr id="70" name="Google Shape;70;p15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6A8E7225-1F1C-8701-F2D2-181143AF2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611" y="2507226"/>
            <a:ext cx="4019589" cy="22207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387645" y="636668"/>
            <a:ext cx="29426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lang="es-419" sz="3200" b="1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Solución</a:t>
            </a:r>
            <a:endParaRPr sz="3200" b="1"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4387645" y="1039761"/>
            <a:ext cx="4313802" cy="348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419" sz="20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resolverlo, </a:t>
            </a:r>
            <a:r>
              <a:rPr lang="es-419" sz="2000" b="1" dirty="0" err="1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SpainEasy</a:t>
            </a:r>
            <a:r>
              <a:rPr lang="es-419" sz="20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propone una aplicación que centraliza la información sobre trámites, ofrece guías paso a paso, un espacio colaborativo entre migrantes y un directorio de asesoría legal con un modelo económico sostenible.</a:t>
            </a:r>
            <a:endParaRPr sz="20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图片 2" descr="文本, 图标&#10;&#10;AI 生成的内容可能不正确。">
            <a:extLst>
              <a:ext uri="{FF2B5EF4-FFF2-40B4-BE49-F238E27FC236}">
                <a16:creationId xmlns:a16="http://schemas.microsoft.com/office/drawing/2014/main" id="{2149541E-A0A1-C785-A652-DDA421C5B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55" y="1070464"/>
            <a:ext cx="3002572" cy="300257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676731" y="297627"/>
            <a:ext cx="2818638" cy="69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419" b="1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Mapa Mental</a:t>
            </a:r>
            <a:endParaRPr b="1" dirty="0"/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55420F6F-F5DC-3D74-5317-B067AFCB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638" y="1166043"/>
            <a:ext cx="6083709" cy="34220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AB2D71B-82F9-9EF5-5AD8-8681964C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97ADC43-39A6-1E5F-D032-23C66C0A9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7956" y="504017"/>
            <a:ext cx="3061986" cy="99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ES" sz="3200" b="1" noProof="0" dirty="0">
                <a:solidFill>
                  <a:srgbClr val="22407C"/>
                </a:solidFill>
                <a:latin typeface="Helvetica Neue"/>
                <a:sym typeface="Helvetica Neue"/>
              </a:rPr>
              <a:t>Mapa Mental</a:t>
            </a:r>
            <a:endParaRPr lang="es-ES" sz="3200" b="1" noProof="0" dirty="0"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82CA2E2-E43A-C631-A851-3906E8537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1136" y="1122764"/>
            <a:ext cx="4041083" cy="3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s-ES" sz="2000" noProof="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ES" sz="24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Servicio Principal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ES" sz="24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Usuario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ES" sz="24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Ventaja competitiva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ES" sz="24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Riesgo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407C"/>
              </a:buClr>
              <a:buSzPts val="2000"/>
              <a:buFont typeface="Helvetica Neue"/>
              <a:buChar char="●"/>
            </a:pPr>
            <a:r>
              <a:rPr lang="es-ES" sz="24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 de ganar</a:t>
            </a:r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D864016-4D22-C6DA-C5A0-5EEF404DDFA7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图片 3" descr="卡通人物&#10;&#10;AI 生成的内容可能不正确。">
            <a:extLst>
              <a:ext uri="{FF2B5EF4-FFF2-40B4-BE49-F238E27FC236}">
                <a16:creationId xmlns:a16="http://schemas.microsoft.com/office/drawing/2014/main" id="{74042DA0-2E69-D57F-03DE-59007CEF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60" y="791354"/>
            <a:ext cx="2670594" cy="3560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189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059441" y="253296"/>
            <a:ext cx="287025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419" b="1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Análisis DAFO</a:t>
            </a:r>
            <a:endParaRPr b="1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2C4F8028-8259-6C81-9957-F9DD5150A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676" y="935794"/>
            <a:ext cx="5272547" cy="39544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824214" y="563011"/>
            <a:ext cx="3025116" cy="74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ES" sz="3200" b="1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Investigación</a:t>
            </a:r>
            <a:r>
              <a:rPr lang="es-ES" sz="20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114800" y="1364225"/>
            <a:ext cx="4634240" cy="265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/>
            <a:r>
              <a:rPr lang="es-ES" sz="20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 un vacío en el mercado</a:t>
            </a:r>
          </a:p>
          <a:p>
            <a:pPr marL="342900"/>
            <a:r>
              <a:rPr lang="es-ES" sz="20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Ninguna Plataforma combina guía </a:t>
            </a:r>
          </a:p>
          <a:p>
            <a:pPr marL="342900"/>
            <a:r>
              <a:rPr lang="es-ES" sz="20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mercado español muestra un crecimiento de migrantes y turistas internacionales</a:t>
            </a:r>
          </a:p>
          <a:p>
            <a:pPr marL="342900"/>
            <a:r>
              <a:rPr lang="es-ES" sz="2000" noProof="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combinación de ayuda digital y presencial</a:t>
            </a:r>
          </a:p>
        </p:txBody>
      </p:sp>
      <p:sp>
        <p:nvSpPr>
          <p:cNvPr id="98" name="Google Shape;98;p19"/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1DA732D5-99FF-3AB6-BE96-3168C3A6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09" y="1452716"/>
            <a:ext cx="2962582" cy="29625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Shape 95">
          <a:extLst>
            <a:ext uri="{FF2B5EF4-FFF2-40B4-BE49-F238E27FC236}">
              <a16:creationId xmlns:a16="http://schemas.microsoft.com/office/drawing/2014/main" id="{248C91D6-C9A8-6BDF-A4A4-63E33EC7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63163046-97C5-D1DF-DFCA-DF18C5F1E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975" y="643675"/>
            <a:ext cx="243518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419" sz="3200" b="1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Conclusión</a:t>
            </a:r>
            <a:endParaRPr sz="3200" b="1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990FC004-09FF-EE09-ED88-F6755E817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80418" y="1329198"/>
            <a:ext cx="5560143" cy="24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419" sz="2000" dirty="0" err="1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SpainEasy</a:t>
            </a:r>
            <a:r>
              <a:rPr lang="es-419" sz="2000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busca llenar un vacío en el apoyo al migrante en España, ofreciendo una solución integral, actualizada y sostenible que facilite su adaptación y acceso a servicios esenciales.</a:t>
            </a:r>
            <a:endParaRPr sz="2000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9">
            <a:extLst>
              <a:ext uri="{FF2B5EF4-FFF2-40B4-BE49-F238E27FC236}">
                <a16:creationId xmlns:a16="http://schemas.microsoft.com/office/drawing/2014/main" id="{1349DC95-DC5E-EE20-83BB-94D24CE16389}"/>
              </a:ext>
            </a:extLst>
          </p:cNvPr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900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963D032-FDE3-70E7-D620-493C4EB6A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7F5048C1-7824-2357-C3E4-B61230A04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8549" y="3272148"/>
            <a:ext cx="4241858" cy="142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-419" sz="3200" b="1" dirty="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THANKS FOR YOUR ATTENTION!!</a:t>
            </a:r>
            <a:endParaRPr sz="3200" b="1" dirty="0">
              <a:solidFill>
                <a:srgbClr val="2240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9">
            <a:extLst>
              <a:ext uri="{FF2B5EF4-FFF2-40B4-BE49-F238E27FC236}">
                <a16:creationId xmlns:a16="http://schemas.microsoft.com/office/drawing/2014/main" id="{F37897A1-91EC-3B07-4CE8-0BF44BE3181D}"/>
              </a:ext>
            </a:extLst>
          </p:cNvPr>
          <p:cNvSpPr/>
          <p:nvPr/>
        </p:nvSpPr>
        <p:spPr>
          <a:xfrm>
            <a:off x="0" y="0"/>
            <a:ext cx="274200" cy="5143500"/>
          </a:xfrm>
          <a:prstGeom prst="rect">
            <a:avLst/>
          </a:prstGeom>
          <a:solidFill>
            <a:srgbClr val="5A96E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图片 4" descr="图片包含 形状&#10;&#10;AI 生成的内容可能不正确。">
            <a:extLst>
              <a:ext uri="{FF2B5EF4-FFF2-40B4-BE49-F238E27FC236}">
                <a16:creationId xmlns:a16="http://schemas.microsoft.com/office/drawing/2014/main" id="{A16DE26A-A80A-793F-8EC3-C069BB2C8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35" y="442878"/>
            <a:ext cx="3690630" cy="258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98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174</Words>
  <Application>Microsoft Office PowerPoint</Application>
  <PresentationFormat>全屏显示(16:9)</PresentationFormat>
  <Paragraphs>32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Helvetica Neue</vt:lpstr>
      <vt:lpstr>Arial</vt:lpstr>
      <vt:lpstr>Simple Light</vt:lpstr>
      <vt:lpstr>PowerPoint 演示文稿</vt:lpstr>
      <vt:lpstr>Contenido</vt:lpstr>
      <vt:lpstr>Descripción Inicial</vt:lpstr>
      <vt:lpstr>Solución</vt:lpstr>
      <vt:lpstr>Mapa Mental</vt:lpstr>
      <vt:lpstr>Mapa Mental</vt:lpstr>
      <vt:lpstr>Análisis DAFO</vt:lpstr>
      <vt:lpstr>Investigación </vt:lpstr>
      <vt:lpstr>Conclusión</vt:lpstr>
      <vt:lpstr>THANKS FOR YOUR ATTENTION!!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 CHEN</cp:lastModifiedBy>
  <cp:revision>8</cp:revision>
  <dcterms:modified xsi:type="dcterms:W3CDTF">2025-10-24T20:55:28Z</dcterms:modified>
</cp:coreProperties>
</file>